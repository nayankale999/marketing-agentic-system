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audience. This deck is meant for the team doing the security review and the architect who has to integrate MAS into your platform. Skip the value-prop language — it's covered in the executive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sections, ~22 slides total. Pace ~1.5 min/slide for a 30-min review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slide, then move on. The buyer is here for the engineering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 to bottom. The key takeaway is that **the LLM is one of two outbound dependencies** — it can be swapped, throttled, or disabled per tenant. Anthropic is not on the critical path for non-LLM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Buyers worry about LLM hallucinations affecting their data. Highlight that only 2 of 6 agents call an LLM, and both go through a tool registry with respx-mockable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diagram, then call out the pause/resume semantics — that's the AC most reviewers ask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Buyers ask "where does my data live?" — this slide is the answer. Reference the migration count (22) as a proxy for maturity. Most production systems are in this range after a year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#1 question from any security reviewer. RLS at the database level means a bug in the application layer cannot leak data — even raw SQL would be filtered. Show the policy code; it's 5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audit ask is "where do you store our SendGrid API key?" Answer: encrypted at rest, never logged, decrypted only at use. Key rotation = bump `key_version` + re-encrypt; no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regulated-industry buyers will pause on. Walk the three layers: threshold → keyword scanner → CAN-SPAM. Note that all three are auditable: `audit_log` captures the score, the violations, and the final approval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straightforward RBAC; the deeper point is **the role gate is in one place** (`app.api.deps.require_role`). New endpoints inherit it; you can grep for `require_role` and audit the entire authorization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enterprise buyers want SSO. We're SSO-first by default; SCIM is the gap to call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Reviewers worry about "the LLM going rogue." Two answers: (1) we don't put it in autonomous loops — every output is human-reviewable, (2) per-tenant rate limits cap blast radius.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Walking through the SendGrid scenario: worker dies mid-batch → retries → the duplicate insert hits UNIQUE → handler reads the existing row's status → no double-send. Same model applies to LinkedIn / X / Meta.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Reviewers ask: "What happens to a payload that doesn't verify?" Answer: it lands, gets tagged with `signature_valid=false`, the audit row fires, and we return 401. Operator can review without losing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observability stack as a flat list, not a diagram. Buyers want to know "can my SRE see what MAS is doing?" — answer is yes, via standard OTEL collectors.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is purposely simple — same shape as any FastAPI + Postgres deployment. The interesting part is the worker is in-process, not a separate Celery cluster; for single-tenant deployments this halves the moving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746 tests is the proof of "this isn't a prototype." For reviewers who care: every story in the backlog has acceptance criteria + a test that exercises them. The CI run is fast because we don't mock at the boundary — we run real Postgres and mock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builds trust. Reviewers who poke around the code will find these gaps anyway — better to surface them. The point is that each gap is small + 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thin and dated. Don't promise things that aren't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your security team will screenshot. Walk it once, then hand them this and the technical deck. Each row maps to a file in the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a single CTA. Resources should mirror what you've already shared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2194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Helvetica Neue"/>
              </a:rPr>
              <a:t>MAS — 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>
                <a:solidFill>
                  <a:srgbClr val="E3EAF2"/>
                </a:solidFill>
                <a:latin typeface="Helvetica Neue"/>
              </a:rPr>
              <a:t>Marketing Agentic System — architecture, security, infrastructure</a:t>
            </a:r>
            <a:r>
              <a:rPr sz="1600" b="0">
                <a:solidFill>
                  <a:srgbClr val="E3EAF2"/>
                </a:solidFill>
                <a:latin typeface="Helvetica Neue"/>
              </a:rPr>
              <a:t> For: engineering, security, and infrastructure reviewers Updated: 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1097280" cy="3429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01498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1. Value framing (1 slide) 2. System context + agent map 3. Data model + multi-tenant isolation 4. Approval + compliance guardrails 5. Access control 6. Tool layer + LLM safety 7. Distribution + idempotency 8. Analytics + observability 9. Infrastructure + deployment 10. Test harness + CI 11. Roadmap + open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Value framing (1 slide)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A marketing team running one campaign touches 6–10 tools and spends half the week stitching them together. MAS replaces the stitching with six specialist agents on one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85416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Not a copywriting tool.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A marketing operations product with copy + analytics + dispatch + compliance built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System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185855" cy="4572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11535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┌─────────────────────────────────────┐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│   Marketing User (browser, OIDC) 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└─────────────┬───────────────────────┘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              │ HTTPS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┌─────────────▼───────────────────────┐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│   FastAPI API + HTMX/Jinja UI    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└──────┬───────────────────┬──────────┘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       │                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┌─────────────────────▼────┐   ┌──────────▼──────────────┐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│  Orchestrator + 6 Agents │   │  Postgres 15 (RLS-on)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│  + Tool Registry         │◄──┤  audit_log, agent_log,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└────┬──────────┬──────────┘   │  campaign, audience, 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│          │              │  analytic_event, etc.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▼          ▼              └─────────────────────────┘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┌─────────────┐  ┌────────────┐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  Anthropic  │  │ Connectors │   ── SendGrid · LinkedIn · X · Meta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  (LLM)      │  │            │      Plausible · HubSpot · Google Ads*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└─────────────┘  └────────────┘     (* scaffolded; full impl deferred)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Agent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5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6053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Agent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Slice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Entry point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LLM-backed?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Audience Targeting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2 (W15)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app.agents.audience_targeting.materialise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Campaign Strategist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3 (W20)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app.agents.strategist.propose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Content Creator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3 (W22)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app.agents.content_creator.generate_asset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Approval Orchestrator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3 (W25)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app.agents.approval.*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 + state-machine transitions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Channel Distribution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4 (W28)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app.agents.distribution.dispatch_email_asset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 /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dispatch_social_asset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Analytics &amp; Optimisation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5 (W37)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app.agents.analytics.analyse_campaign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Mostly no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078224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Each agent is a Python module with a documented surface. The orchestrator state machine wires them together via state transitions on </a:t>
            </a:r>
            <a:r>
              <a:rPr sz="1400" b="0">
                <a:solidFill>
                  <a:srgbClr val="0C2340"/>
                </a:solidFill>
                <a:latin typeface="Menlo"/>
              </a:rPr>
              <a:t>campaign.status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State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185855" cy="16642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11535" cy="14813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drafted → audience_built → strategy_set → content_in_production →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approval_pending → ready_to_launch → live → optimising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              ↕ pause/resume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           paused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              ↓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        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18688"/>
            <a:ext cx="11185855" cy="10607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All transitions are explicit; each has a </a:t>
            </a:r>
            <a:r>
              <a:rPr sz="1400" b="0">
                <a:solidFill>
                  <a:srgbClr val="0C2340"/>
                </a:solidFill>
                <a:latin typeface="Menlo"/>
              </a:rPr>
              <a:t>guard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(precondition) and an optional </a:t>
            </a:r>
            <a:r>
              <a:rPr sz="1400" b="0">
                <a:solidFill>
                  <a:srgbClr val="0C2340"/>
                </a:solidFill>
                <a:latin typeface="Menlo"/>
              </a:rPr>
              <a:t>on_enter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hook.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The </a:t>
            </a:r>
            <a:r>
              <a:rPr sz="1400" b="0">
                <a:solidFill>
                  <a:srgbClr val="0C2340"/>
                </a:solidFill>
                <a:latin typeface="Menlo"/>
              </a:rPr>
              <a:t>pause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transition cancels queued tasks but lets running ones drain.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0">
                <a:solidFill>
                  <a:srgbClr val="0C2340"/>
                </a:solidFill>
                <a:latin typeface="Menlo"/>
              </a:rPr>
              <a:t>complete_campaign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auto-generates an end-of-campaign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70832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File: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[</a:t>
            </a:r>
            <a:r>
              <a:rPr sz="1400" b="0">
                <a:solidFill>
                  <a:srgbClr val="0C2340"/>
                </a:solidFill>
                <a:latin typeface="Menlo"/>
              </a:rPr>
              <a:t>app/orchestrator/state_machine.py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](../../app/orchestrator/state_machine.py)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Data model — 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11 first-class tables. Every domain table carries </a:t>
            </a:r>
            <a:r>
              <a:rPr sz="1400" b="0">
                <a:solidFill>
                  <a:srgbClr val="0C2340"/>
                </a:solidFill>
                <a:latin typeface="Menlo"/>
              </a:rPr>
              <a:t>tenant_id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 Composite uniqueness keys prevent cross-tenant collisions: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85416"/>
            <a:ext cx="11185855" cy="3392424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76856"/>
            <a:ext cx="10911535" cy="32095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tenant ─── app_user (UNIQUE tenant_id, email)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├── channel (UNIQUE tenant_id, name)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├── campaign ─┬── audience ──── audience_member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             ├── strategy_proposal ─── strategy_touchpoint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             ├── content_asset ─── approval_decision_log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             ├── ab_test ──── ab_test_assignment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             ├── analytic_event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             └── campaign_channel_budget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├── integration_credential (encrypted blob)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├── audit_log + agent_log (append-only)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└── … (22 migrations total)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Tenant isolation (RLS)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Every domain table has a Postgres row-level security policy: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92808"/>
            <a:ext cx="11185855" cy="923544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911535" cy="7406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ALTER TABLE campaign ENABLE ROW LEVEL SECURITY;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CREATE POLICY tenant_isolation ON campaign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USING (tenant_id = current_setting('app.tenant_id', true)::uuid);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53512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The application sets the GUC inside each transaction: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11185855" cy="14173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0911535" cy="1234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async def set_tenant_context(session, tenant_id):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await session.execute(text("SET LOCAL ROLE mas_app"))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await session.execute(text(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"SELECT set_config('app.tenant_id', :tid, true)"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), {"tid": str(tenant_id)})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83480"/>
            <a:ext cx="11185855" cy="10607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0">
                <a:solidFill>
                  <a:srgbClr val="0C2340"/>
                </a:solidFill>
                <a:latin typeface="Menlo"/>
              </a:rPr>
              <a:t>SET LOCAL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is transaction-scoped → no leak across tx boundaries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0">
                <a:solidFill>
                  <a:srgbClr val="0C2340"/>
                </a:solidFill>
                <a:latin typeface="Menlo"/>
              </a:rPr>
              <a:t>mas_app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role is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not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the migration owner; can't drop tables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0">
                <a:solidFill>
                  <a:srgbClr val="0C2340"/>
                </a:solidFill>
                <a:latin typeface="Menlo"/>
              </a:rPr>
              <a:t>audit_log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+ </a:t>
            </a:r>
            <a:r>
              <a:rPr sz="1400" b="0">
                <a:solidFill>
                  <a:srgbClr val="0C2340"/>
                </a:solidFill>
                <a:latin typeface="Menlo"/>
              </a:rPr>
              <a:t>agent_log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are append-only — UPDATE/DELETE revoked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35624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File: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[</a:t>
            </a:r>
            <a:r>
              <a:rPr sz="1400" b="0">
                <a:solidFill>
                  <a:srgbClr val="0C2340"/>
                </a:solidFill>
                <a:latin typeface="Menlo"/>
              </a:rPr>
              <a:t>app/db/session.py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](../../app/db/session.py)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Credential encryption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Per-tenant API keys (SendGrid, HubSpot, LinkedIn, etc.) land in </a:t>
            </a:r>
            <a:r>
              <a:rPr sz="1400" b="0">
                <a:solidFill>
                  <a:srgbClr val="0C2340"/>
                </a:solidFill>
                <a:latin typeface="Menlo"/>
              </a:rPr>
              <a:t>integration_credential.encrypted_payload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92808"/>
            <a:ext cx="11185855" cy="1911096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911535" cy="17282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encrypted = get_encrypted_payload().encrypt(payload)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session.add(IntegrationCredential(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tenant_id=tenant_id,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provider="sendgrid",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encrypted_payload=encrypted,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key_version=1,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41064"/>
            <a:ext cx="11185855" cy="10607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Fernet (cryptography library), key rotated via </a:t>
            </a:r>
            <a:r>
              <a:rPr sz="1400" b="0">
                <a:solidFill>
                  <a:srgbClr val="0C2340"/>
                </a:solidFill>
                <a:latin typeface="Menlo"/>
              </a:rPr>
              <a:t>key_version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Master key from env: </a:t>
            </a:r>
            <a:r>
              <a:rPr sz="1400" b="0">
                <a:solidFill>
                  <a:srgbClr val="0C2340"/>
                </a:solidFill>
                <a:latin typeface="Menlo"/>
              </a:rPr>
              <a:t>CREDENTIALS_SECRET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managed by your secrets manager.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Cleartext payload never appears in </a:t>
            </a:r>
            <a:r>
              <a:rPr sz="1400" b="0">
                <a:solidFill>
                  <a:srgbClr val="0C2340"/>
                </a:solidFill>
                <a:latin typeface="Menlo"/>
              </a:rPr>
              <a:t>audit_log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(snapshot listener strips it).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Approval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Three layers, each independently configurable per tenant: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1.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Threshold-based approval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(E07-S03) </a:t>
            </a:r>
            <a:r>
              <a:rPr sz="1400" b="0">
                <a:solidFill>
                  <a:srgbClr val="0C2340"/>
                </a:solidFill>
                <a:latin typeface="Menlo"/>
              </a:rPr>
              <a:t>tenant_approval_settings.auto_approve_below_score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 Any content with </a:t>
            </a:r>
            <a:r>
              <a:rPr sz="1400" b="0">
                <a:solidFill>
                  <a:srgbClr val="0C2340"/>
                </a:solidFill>
                <a:latin typeface="Menlo"/>
              </a:rPr>
              <a:t>compliance_score &lt; threshold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requires human sign-off.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60904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2.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Compliance keyword scanner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(E06-S08) </a:t>
            </a:r>
            <a:r>
              <a:rPr sz="1400" b="0">
                <a:solidFill>
                  <a:srgbClr val="0C2340"/>
                </a:solidFill>
                <a:latin typeface="Menlo"/>
              </a:rPr>
              <a:t>compliance_rule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table — admin-defined patterns (</a:t>
            </a:r>
            <a:r>
              <a:rPr sz="1400" b="0">
                <a:solidFill>
                  <a:srgbClr val="0C2340"/>
                </a:solidFill>
                <a:latin typeface="Menlo"/>
              </a:rPr>
              <a:t>literal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/ </a:t>
            </a:r>
            <a:r>
              <a:rPr sz="1400" b="0">
                <a:solidFill>
                  <a:srgbClr val="0C2340"/>
                </a:solidFill>
                <a:latin typeface="Menlo"/>
              </a:rPr>
              <a:t>regex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/ </a:t>
            </a:r>
            <a:r>
              <a:rPr sz="1400" b="0">
                <a:solidFill>
                  <a:srgbClr val="0C2340"/>
                </a:solidFill>
                <a:latin typeface="Menlo"/>
              </a:rPr>
              <a:t>fuzzy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) with severity. Blocker-severity hits move asset to </a:t>
            </a:r>
            <a:r>
              <a:rPr sz="1400" b="0">
                <a:solidFill>
                  <a:srgbClr val="0C2340"/>
                </a:solidFill>
                <a:latin typeface="Menlo"/>
              </a:rPr>
              <a:t>failed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before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3.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CAN-SPAM + unsubscribe injection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(E16-S04) Every email send auto-adds the tenant postal address + signed unsubscribe URL. Configurable </a:t>
            </a:r>
            <a:r>
              <a:rPr sz="1400" b="0">
                <a:solidFill>
                  <a:srgbClr val="0C2340"/>
                </a:solidFill>
                <a:latin typeface="Menlo"/>
              </a:rPr>
              <a:t>tenant_compliance_settings.postal_address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Role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Read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Write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viewer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All campaigns + KPIs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marketer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+ content + analytics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Create campaigns, draft content, accept recommendations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manager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+ audit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Approve content, stop A/B tests, dispute reconciliation, force compliance 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admin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+ credentials surface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Integrations, OIDC config, dismiss anomalies, run reconciliation, rotate keys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83280"/>
            <a:ext cx="11185855" cy="10607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Enforced at the FastAPI dependency layer: </a:t>
            </a:r>
            <a:r>
              <a:rPr sz="1400" b="0">
                <a:solidFill>
                  <a:srgbClr val="0C2340"/>
                </a:solidFill>
                <a:latin typeface="Menlo"/>
              </a:rPr>
              <a:t>Depends(require_role(UserRole.manager))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Role is read from the OIDC session; never trusted from the request body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0">
                <a:solidFill>
                  <a:srgbClr val="0C2340"/>
                </a:solidFill>
                <a:latin typeface="Menlo"/>
              </a:rPr>
              <a:t>audit_log.actor_id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records every privileged 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3533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Production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: OIDC against Google Workspace by default; any OIDC IdP supported (Okta, Auth0, Azure AD).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Dev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: an </a:t>
            </a:r>
            <a:r>
              <a:rPr sz="1400" b="0">
                <a:solidFill>
                  <a:srgbClr val="0C2340"/>
                </a:solidFill>
                <a:latin typeface="Menlo"/>
              </a:rPr>
              <a:t>oidc-mock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container for local development. Tests use FastAPI's </a:t>
            </a:r>
            <a:r>
              <a:rPr sz="1400" b="0">
                <a:solidFill>
                  <a:srgbClr val="0C2340"/>
                </a:solidFill>
                <a:latin typeface="Menlo"/>
              </a:rPr>
              <a:t>dependency_overrides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to inject a synthetic user.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Sessions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: signed cookies via </a:t>
            </a:r>
            <a:r>
              <a:rPr sz="1400" b="0">
                <a:solidFill>
                  <a:srgbClr val="0C2340"/>
                </a:solidFill>
                <a:latin typeface="Menlo"/>
              </a:rPr>
              <a:t>SessionMiddleware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(key: </a:t>
            </a:r>
            <a:r>
              <a:rPr sz="1400" b="0">
                <a:solidFill>
                  <a:srgbClr val="0C2340"/>
                </a:solidFill>
                <a:latin typeface="Menlo"/>
              </a:rPr>
              <a:t>SESSION_SECRET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Tenant scoping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: derived from the OIDC </a:t>
            </a:r>
            <a:r>
              <a:rPr sz="1400" b="0">
                <a:solidFill>
                  <a:srgbClr val="0C2340"/>
                </a:solidFill>
                <a:latin typeface="Menlo"/>
              </a:rPr>
              <a:t>hd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claim or an explicit </a:t>
            </a:r>
            <a:r>
              <a:rPr sz="1400" b="0">
                <a:solidFill>
                  <a:srgbClr val="0C2340"/>
                </a:solidFill>
                <a:latin typeface="Menlo"/>
              </a:rPr>
              <a:t>tenant.oidc_hosted_domain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mapping (migration 0002).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62072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SCIM provisioning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is on the roadmap (Q4).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Tool layer + LLM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LLM-backed agents (Strategist, Content Creator) call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registered tools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92808"/>
            <a:ext cx="11185855" cy="16642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911535" cy="14813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class CopywritingTool(Tool):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name: ClassVar[str] = "copywriting.generate"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input_schema: ClassVar[dict] = {...}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async def call(self, inputs): ...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tool_registry.register(CopywritingTool(...))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94176"/>
            <a:ext cx="11185855" cy="13533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The Anthropic client is constructed at app boot;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per-tenant rate limits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sit in front of it (</a:t>
            </a:r>
            <a:r>
              <a:rPr sz="1400" b="0">
                <a:solidFill>
                  <a:srgbClr val="0C2340"/>
                </a:solidFill>
                <a:latin typeface="Menlo"/>
              </a:rPr>
              <a:t>provider_rate_limit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Tools are stateless and contract-tested in isolation (respx-mocked).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Costs are bounded by </a:t>
            </a:r>
            <a:r>
              <a:rPr sz="1400" b="0">
                <a:solidFill>
                  <a:srgbClr val="0C2340"/>
                </a:solidFill>
                <a:latin typeface="Menlo"/>
              </a:rPr>
              <a:t>max_tokens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+ </a:t>
            </a:r>
            <a:r>
              <a:rPr sz="1400" b="0">
                <a:solidFill>
                  <a:srgbClr val="0C2340"/>
                </a:solidFill>
                <a:latin typeface="Menlo"/>
              </a:rPr>
              <a:t>temperature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defaults; configurable per tool.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If </a:t>
            </a:r>
            <a:r>
              <a:rPr sz="1400" b="0">
                <a:solidFill>
                  <a:srgbClr val="0C2340"/>
                </a:solidFill>
                <a:latin typeface="Menlo"/>
              </a:rPr>
              <a:t>ANTHROPIC_API_KEY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is unset, LLM tools simply don't register — the app boots in a degraded-but-safe mode.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Distribution + idempotency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Email dispatch via </a:t>
            </a:r>
            <a:r>
              <a:rPr sz="1400" b="0">
                <a:solidFill>
                  <a:srgbClr val="0C2340"/>
                </a:solidFill>
                <a:latin typeface="Menlo"/>
              </a:rPr>
              <a:t>dispatch_attempt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row per (asset × recipient):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92808"/>
            <a:ext cx="11185855" cy="42976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911535" cy="2468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UNIQUE (tenant_id, idempotency_key)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9736"/>
            <a:ext cx="11185855" cy="13533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0">
                <a:solidFill>
                  <a:srgbClr val="0C2340"/>
                </a:solidFill>
                <a:latin typeface="Menlo"/>
              </a:rPr>
              <a:t>idempotency_key = asset_id:recipient_email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→ retries hit the conflict and read the prior status instead of re-sending.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24-hour recency window catches the safety-net case (</a:t>
            </a:r>
            <a:r>
              <a:rPr sz="1400" b="0">
                <a:solidFill>
                  <a:srgbClr val="0C2340"/>
                </a:solidFill>
                <a:latin typeface="Menlo"/>
              </a:rPr>
              <a:t>_recent_sent_recipients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Frequency caps (</a:t>
            </a:r>
            <a:r>
              <a:rPr sz="1400" b="0">
                <a:solidFill>
                  <a:srgbClr val="0C2340"/>
                </a:solidFill>
                <a:latin typeface="Menlo"/>
              </a:rPr>
              <a:t>frequency_cap_setting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) enforced per channel.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Suppression list (</a:t>
            </a:r>
            <a:r>
              <a:rPr sz="1400" b="0">
                <a:solidFill>
                  <a:srgbClr val="0C2340"/>
                </a:solidFill>
                <a:latin typeface="Menlo"/>
              </a:rPr>
              <a:t>suppression_entry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) for bounces, complaints, manual blocks.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04488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Social dispatch follows the same shape, keyed by </a:t>
            </a:r>
            <a:r>
              <a:rPr sz="1400" b="0">
                <a:solidFill>
                  <a:srgbClr val="0C2340"/>
                </a:solidFill>
                <a:latin typeface="Menlo"/>
              </a:rPr>
              <a:t>asset:{aid}:channel:{cid}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Webhook receivers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Single uniform receiver at </a:t>
            </a:r>
            <a:r>
              <a:rPr sz="1400" b="0">
                <a:solidFill>
                  <a:srgbClr val="0C2340"/>
                </a:solidFill>
                <a:latin typeface="Menlo"/>
              </a:rPr>
              <a:t>POST /webhooks/{provider}/{tenant_id}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(W33):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1938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ProviderHandler ABC + registry — drop a class in to add a provider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Signature verification per provider (shared-secret today; provider-specific signing schemes are extensible)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Every webhook lands in </a:t>
            </a:r>
            <a:r>
              <a:rPr sz="1400" b="0">
                <a:solidFill>
                  <a:srgbClr val="0C2340"/>
                </a:solidFill>
                <a:latin typeface="Menlo"/>
              </a:rPr>
              <a:t>raw_webhook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regardless of signature validity — full audit trail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Successful events map to </a:t>
            </a:r>
            <a:r>
              <a:rPr sz="1400" b="0">
                <a:solidFill>
                  <a:srgbClr val="0C2340"/>
                </a:solidFill>
                <a:latin typeface="Menlo"/>
              </a:rPr>
              <a:t>analytic_event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rows with dedup on </a:t>
            </a:r>
            <a:r>
              <a:rPr sz="1400" b="0">
                <a:solidFill>
                  <a:srgbClr val="0C2340"/>
                </a:solidFill>
                <a:latin typeface="Menlo"/>
              </a:rPr>
              <a:t>(tenant_id, provider_event_id)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Failed signatures write </a:t>
            </a:r>
            <a:r>
              <a:rPr sz="1400" b="0">
                <a:solidFill>
                  <a:srgbClr val="0C2340"/>
                </a:solidFill>
                <a:latin typeface="Menlo"/>
              </a:rPr>
              <a:t>audit_log.action = webhook_signature_failed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Unmapped webhooks surface in </a:t>
            </a:r>
            <a:r>
              <a:rPr sz="1400" b="0">
                <a:solidFill>
                  <a:srgbClr val="0C2340"/>
                </a:solidFill>
                <a:latin typeface="Menlo"/>
              </a:rPr>
              <a:t>GET /api/webhooks/unmapped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(admin)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Analytics + observability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01498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KPI rollup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(W34): per-campaign queries against </a:t>
            </a:r>
            <a:r>
              <a:rPr sz="1400" b="0">
                <a:solidFill>
                  <a:srgbClr val="0C2340"/>
                </a:solidFill>
                <a:latin typeface="Menlo"/>
              </a:rPr>
              <a:t>analytic_event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with channel/asset filters. Attribution chain handles direct (Plausible UTM) and indirect (SendGrid → </a:t>
            </a:r>
            <a:r>
              <a:rPr sz="1400" b="0">
                <a:solidFill>
                  <a:srgbClr val="0C2340"/>
                </a:solidFill>
                <a:latin typeface="Menlo"/>
              </a:rPr>
              <a:t>dispatch_attempt.provider_message_id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→ </a:t>
            </a:r>
            <a:r>
              <a:rPr sz="1400" b="0">
                <a:solidFill>
                  <a:srgbClr val="0C2340"/>
                </a:solidFill>
                <a:latin typeface="Menlo"/>
              </a:rPr>
              <a:t>content_asset.campaign_id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)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78023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Anomaly detection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(W37): 14-day rolling median + 3σ deviation. Critical metrics (</a:t>
            </a:r>
            <a:r>
              <a:rPr sz="1400" b="0">
                <a:solidFill>
                  <a:srgbClr val="0C2340"/>
                </a:solidFill>
                <a:latin typeface="Menlo"/>
              </a:rPr>
              <a:t>unsubscribe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, </a:t>
            </a:r>
            <a:r>
              <a:rPr sz="1400" b="0">
                <a:solidFill>
                  <a:srgbClr val="0C2340"/>
                </a:solidFill>
                <a:latin typeface="Menlo"/>
              </a:rPr>
              <a:t>bounce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, </a:t>
            </a:r>
            <a:r>
              <a:rPr sz="1400" b="0">
                <a:solidFill>
                  <a:srgbClr val="0C2340"/>
                </a:solidFill>
                <a:latin typeface="Menlo"/>
              </a:rPr>
              <a:t>spam_complaint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) trigger notifications + optional auto-pause.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19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OpenTelemetry tracing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: every agent → tool → DB span is traced. </a:t>
            </a:r>
            <a:r>
              <a:rPr sz="1400" b="0">
                <a:solidFill>
                  <a:srgbClr val="0C2340"/>
                </a:solidFill>
                <a:latin typeface="Menlo"/>
              </a:rPr>
              <a:t>init_observability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wires the FastAPI middleware + the Anthropic client + SQLAlchemy.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307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Application: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FastAPI (uvicorn), Python 3.12, single binary container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Database: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Postgres 15 (managed RDS / Cloud SQL / on-prem)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Worker: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durable task queue inside the same Python image, leased via </a:t>
            </a:r>
            <a:r>
              <a:rPr sz="1400" b="0">
                <a:solidFill>
                  <a:srgbClr val="0C2340"/>
                </a:solidFill>
                <a:latin typeface="Menlo"/>
              </a:rPr>
              <a:t>task.leased_until + worker_id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(W5)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Auth: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OIDC provider of your choice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Optional: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Redis for ad-hoc caching; OTEL collector → your tracing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70632"/>
            <a:ext cx="11185855" cy="3145536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62072"/>
            <a:ext cx="10911535" cy="29626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0C2340"/>
                </a:solidFill>
                <a:latin typeface="Menlo"/>
              </a:rPr>
              <a:t>       ┌──────────────────────────────────────────────┐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│   Load balancer (TLS termination)          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└─────────────────┬───────────────────────────┘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┌────────────────▼──────────────────┐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│  MAS app pods (N)  + worker pods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└─────────────┬─────────────────────┘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          ▼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┌──────────────────────┐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│  Postgres 15 (RLS)   │</a:t>
            </a:r>
          </a:p>
          <a:p>
            <a:r>
              <a:rPr sz="1000" b="0">
                <a:solidFill>
                  <a:srgbClr val="0C2340"/>
                </a:solidFill>
                <a:latin typeface="Menlo"/>
              </a:rPr>
              <a:t>            └──────────────────────┘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53328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Deployment options: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Test 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746 tests across 22 migrations, all running on every commit: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13533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Unit: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state machine, tools, evaluators (pure-Python, no DB)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Integration: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every API endpoint + RBAC matrix; runs against a real Postgres in a testcontainer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Contract: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every external provider mocked via </a:t>
            </a:r>
            <a:r>
              <a:rPr sz="1400" b="0">
                <a:solidFill>
                  <a:srgbClr val="0C2340"/>
                </a:solidFill>
                <a:latin typeface="Menlo"/>
              </a:rPr>
              <a:t>respx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SendGrid, LinkedIn, X, Meta, Anthropic, Plausible, HubSpot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End-to-end: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</a:t>
            </a:r>
            <a:r>
              <a:rPr sz="1400" b="0">
                <a:solidFill>
                  <a:srgbClr val="0C2340"/>
                </a:solidFill>
                <a:latin typeface="Menlo"/>
              </a:rPr>
              <a:t>scripts/full_demo.py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walks one campaign through all 6 agents in a fresh testcontainer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3756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CI: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Postgres testcontainer boot ~3s; full suite ~50s.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What's *not* in 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Honest scope-setting: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1938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❌ Full Google Ads / Meta Ads campaign upsert — only OAuth + account list (scaffolded)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❌ PDF export of the end-of-campaign report — CSV ships; PDF is a polish unit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❌ Charts in the UI — server-rendered tables today; chart lib choice is a polish unit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❌ Real-time auto-pause on anomaly — opt-in setting exists but no cron yet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❌ Composite KPI formulas ("X within 7d of Y") — single-event KPIs only today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❌ Instagram publishing — Facebook Pages only on the Meta connector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22776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Each item is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a connector or polish unit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, not an architecture change.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5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3703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Quarter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Focus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Q3 2026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Ad-platform campaign upsert (Google + Meta); UI chart layer; SCIM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Q4 2026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On-prem deployment kit; LLM-backed optimisation rules; Instagram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Q1 2027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Multi-region active-passive failover; per-tenant data-residency keys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Security review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5" cy="3913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3557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Concern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Where it's addressed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Cross-tenant data leakage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Postgres RLS on every domain table +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mas_app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 role with no schema privileges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Credential at rest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Fernet encryption, key rotation via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key_version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Credential in logs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Audit listener strips encrypted blobs; webhook headers redact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x-mas-webhook-secret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Unauthorized API access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OIDC +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require_role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 dependency; tenant scoping from session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LLM hallucination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Human approval gate above threshold; compliance scanner pre-send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Webhook spoofing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Signature verification per provider; raw row stored on failure for forensic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Dispatch double-send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dispatch_attempt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 UNIQUE on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(tenant, idempotency_key)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; 24h recency window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Auto-action without consent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Anomaly auto-pause + recommendation apply are explicit opt-ins per tenant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557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Audit completeness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Append-only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audit_log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 +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agent_log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; UPDATE/DELETE revoked at the role level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5579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Multi-tenant rate limiting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provider_rate_limit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 per (tenant, provider)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Talk to us: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[hello@mas.example](mailto:hello@mas.example)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Resources: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68296"/>
            <a:ext cx="11185855" cy="13533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One-pager — [link]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Executive deck — [link]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Demo video (60s) — [link]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Backend code walkthrough video (15min) — coming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