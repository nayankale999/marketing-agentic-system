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product name. Pause. Audience is execs / VP Marketing / Director of Demand Gen. Goal of this deck: make the buyer see their team in the problem slide, then walk them through the system, then make the value props memorable, then show three teams already using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exec in the room has felt this. Don't oversell — let the list land. You may want to ask: "How many of these does your team use? Which one have you replaced in the last 12 months?"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wedge. Frame it as inevitability. You're not selling another tool; you're selling consolidation + autonomy.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table once, then point: "Notice the Approval agent — humans stay in the loop. We never silently auto-publish." That's the line that lands for governance-focused buyers.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closes the pitch. The number is for B2B SaaS Series-B mid-market style campaigns. Adjust on the fly for your prospect's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differentiators against the "AI marketing tool" landscape (Jasper, Copy.ai, Persado, etc.) which are mostly copy generators. MAS is operations + copy + analytics in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SMB / scrappy team persona. Pain is mostly throughput. Win is "we did more without hiring."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Mid-market persona. Pain is alignment between functions. Win is "one source of truth, fewer arguments."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Regulated / enterprise persona. Pain is multi-tenant + audit. Win is "we shipped 12 partners without hiring 12 marketers." This is the deck slide that closes financial-services prospects.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calibrates expectations. Buyers want a sense of timeline before they commit. "3 weeks" is realistic for a single-tenant, single-channel-stack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 on the slide; have specific numbers in the appendix or in a separate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Buyers like to see velocity. Keep the roadmap thin and concrete — don't promise things that aren't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close. Make it small enough to say yes to. The two-week pilot is the right shape — long enough to ship one campaign, short enough that no procurement gates trigger.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a single ask. Don't load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2194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Helvetica Neue"/>
              </a:rPr>
              <a:t>MAS</a:t>
            </a:r>
          </a:p>
          <a:p>
            <a:pPr>
              <a:spcBef>
                <a:spcPts val="1200"/>
              </a:spcBef>
            </a:pPr>
            <a:r>
              <a:rPr sz="2400" b="0">
                <a:solidFill>
                  <a:srgbClr val="CDDBEC"/>
                </a:solidFill>
                <a:latin typeface="Helvetica Neue"/>
              </a:rPr>
              <a:t>Marketing Agentic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97280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600" b="0">
                <a:solidFill>
                  <a:srgbClr val="E3EAF2"/>
                </a:solidFill>
                <a:latin typeface="Helvetica Neue"/>
              </a:rPr>
              <a:t>A six-agent system that runs end-to-end marketing campaigns the way your team would — only with no context switching, no spreadsheets, and a full audit trail.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1097280" cy="3429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Running one multi-channel marketing campaign today touches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six to ten tools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92808"/>
            <a:ext cx="11185855" cy="2523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Brief in a doc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HubSpot for the audience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Copywriting AI tool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Approvals via Slack / Linear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SendGrid + LinkedIn for sending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Plausible / GA4 for attribution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Google Sheets for spend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Slack for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07992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Half the marketer's week is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stitching them together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The shift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Marketing teams used to add more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92808"/>
            <a:ext cx="11185855" cy="7223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The next era is one product that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orchestrates the work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— specialist agents doing what a team would, with humans in the loop only where they should be.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What MAS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7223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A single product with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six specialist agents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working from one shared brain (Postgres + the orchestrator state machine):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185416"/>
          <a:ext cx="11185855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3627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Audience Targeting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Defines + materialises the ICP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Helvetica Neue"/>
                        </a:rPr>
                        <a:t>Campaign Strategist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Channel mix, allocation, calendar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Helvetica Neue"/>
                        </a:rPr>
                        <a:t>Content Creator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Brand-voice copy + A/B variants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Helvetica Neue"/>
                        </a:rPr>
                        <a:t>Approval Orchestrator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Threshold-based human sign-off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Helvetica Neue"/>
                        </a:rPr>
                        <a:t>Channel Distribution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Email + social + ad publishing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Helvetica Neue"/>
                        </a:rPr>
                        <a:t>Analytics &amp; Optimisation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Real-time KPIs, anomalies, budget shifts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How it feels for the marketer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1600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1.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Drop a brief.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The Audience and Strategist agents propose audience + mix. 2.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Review the calendar.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Edit in place; nothing leaves the door yet. 3.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Approve content.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Variants generated; brand voice + compliance pre-checked. 4.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Watch it run.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Live KPI dashboard with per-source freshness. 5.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Accept recommendations.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Anomalies and budget shifts surface; you decide. 6.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Get the report.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End-of-campaign report writes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Marketer touch time per campaign: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~2 hours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, down from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~2 days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What's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19385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Multi-tenant from day 1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— Postgres row-level security; encrypted per-tenant credentials.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Approval gates are first-class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— every above-threshold asset gets human sign-off. Full audit trail.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Built-in compliance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— CAN-SPAM, unsubscribe injection, configurable keyword scanner.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Deterministic A/B testing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— recipients always see the same variant across retries / multi-touch.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The agent recommends; the human accepts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— anomaly auto-pause and budget shifts are opt-in.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Open architecture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— connectors and tools are plug-in 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Customer profile #1 — Northwind Robotics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Series B B2B SaaS, ~80 employees, 3-person marketing team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92808"/>
          <a:ext cx="11185855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3703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Before MAS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With MAS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6 tools, ad-hoc spreadsheets, manual A/B reconciles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One product; A/B winners auto-promoted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Approval bottleneck — 2-day SLA missed weekly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Threshold approvals — most pieces auto-pass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Quarterly board report assembled by hand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One-click end-of-campaign report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511296"/>
            <a:ext cx="11185855" cy="7223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Outcome: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marketer touch-time per campaign dropped 70%; the team ran 3 campaigns concurrently with the same headcount.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Customer profile #2 — Lattice Mercantile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Mid-market e-commerce, $40M GMV, growth + CRM functions split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92808"/>
          <a:ext cx="11185855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3703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Before MAS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With MAS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Attribution lived in 2 dashboards + GA4; channels argued about credit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One real-time KPI rollup per campaign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Budget rebalancing was a quarterly war over Excel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Weekly budget-shift proposals with confidence labels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Brand voice drifted across email + LinkedIn + Meta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Brand voice config + tone scoring before send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511296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Outcome: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budget rebalanced 4× during one campaign; CTR improved 18% mid-flight.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Customer profile #3 — Arctic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Enterprise wealth platform, multi-tenant via RIA partners, regulated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92808"/>
          <a:ext cx="11185855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3703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Before MAS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With MAS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Each partner's marketing was a manual hand-build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One MAS tenant per RIA; isolated by RLS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Compliance review every campaign — 5-day SLA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Configurable compliance keywords; auto-flagged before sending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Audit asks took weeks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Every approval + state change in </a:t>
                      </a:r>
                      <a:r>
                        <a:rPr sz="1100" b="0">
                          <a:solidFill>
                            <a:srgbClr val="0C2340"/>
                          </a:solidFill>
                          <a:latin typeface="Menlo"/>
                        </a:rPr>
                        <a:t>audit_log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511296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Outcome: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onboarded 12 partner tenants in 90 days; compliance SLA from 5 days to ~3 hours.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Implementation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858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Week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What happens</a:t>
                      </a:r>
                    </a:p>
                  </a:txBody>
                  <a:tcPr marL="45720" marR="45720" marT="22860" marB="22860" anchor="ctr">
                    <a:solidFill>
                      <a:srgbClr val="0C2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OIDC + integrations wired; brand voice captured; compliance rules loaded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First campaign in staging; team trained on the approval flow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First live campaign; on-call from us during the dispatch window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4+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Optimisation cycles weekly; quarterly architecture reviews</a:t>
                      </a:r>
                    </a:p>
                  </a:txBody>
                  <a:tcPr marL="45720" marR="45720" marT="22860" marB="22860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38328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Most teams run their first live MAS campaign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inside the first 3 weeks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Pricing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10607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Foundation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— single-tenant, 3 channels, up to 10k recipients/month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Growth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— up to 5 tenants, unlimited channels, A/B + recommendations enabled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Enterprise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— unlimited tenants, on-prem option, dedicated support, SLA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What's on the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13533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Web UI polish: charts, inline A/B status, drag-and-drop calendar (Q3)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Real ad platform connectors: Google Ads + Meta Ads campaign upsert + spend ingest (Q3)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SCIM provisioning, on-prem deployment kit, additional channel handlers (Q4)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Helvetica Neue"/>
              </a:rPr>
              <a:t>•  LLM-backed optimisation rules (creative swap, schedule change) (Q4)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A </a:t>
            </a:r>
            <a:r>
              <a:rPr sz="1400" b="1">
                <a:solidFill>
                  <a:srgbClr val="1A1A1A"/>
                </a:solidFill>
                <a:latin typeface="Helvetica Neue"/>
              </a:rPr>
              <a:t>2-week pilot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on one live campaign with your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92808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We bring: a single-tenant MAS instance, OIDC wired, your brand voice loaded, on-call engineer.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68296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You bring: one campaign, one approver, and 2 hours/week.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43784"/>
            <a:ext cx="11185855" cy="7223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Outcome by end of week 2: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a live campaign through MAS, an end-of-campaign report, and a clear pricing fit.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3200" b="1">
                <a:solidFill>
                  <a:srgbClr val="0C2340"/>
                </a:solidFill>
                <a:latin typeface="Helvetica Neue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731520" cy="38100"/>
          </a:xfrm>
          <a:prstGeom prst="rect">
            <a:avLst/>
          </a:prstGeom>
          <a:solidFill>
            <a:srgbClr val="2C6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Helvetica Neue"/>
              </a:rPr>
              <a:t>Talk to us: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[hello@mas.example](mailto:hello@mas.example)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92808"/>
            <a:ext cx="11185855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Helvetica Neue"/>
              </a:rPr>
              <a:t>Demo video · One-pager · Detailed architecture deck — [link]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